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18872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017520"/>
            <a:ext cx="1033272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맑은 고딕"/>
              </a:defRPr>
            </a:pPr>
            <a:r>
              <a:t>SAFEVIEW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3272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2600" b="0">
                <a:solidFill>
                  <a:srgbClr val="C8E6C8"/>
                </a:solidFill>
                <a:latin typeface="맑은 고딕"/>
              </a:defRPr>
            </a:pPr>
            <a:r>
              <a:t>AI 기반 사각지대 위험 감지 시스템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12080" y="4754880"/>
            <a:ext cx="182880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80" y="4800600"/>
            <a:ext cx="1828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800" b="1">
                <a:solidFill>
                  <a:srgbClr val="2E7D32"/>
                </a:solidFill>
                <a:latin typeface="맑은 고딕"/>
              </a:defRPr>
            </a:pPr>
            <a:r>
              <a:t>중 간 발 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760720"/>
            <a:ext cx="103327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400" b="0">
                <a:solidFill>
                  <a:srgbClr val="B4D2B4"/>
                </a:solidFill>
                <a:latin typeface="맑은 고딕"/>
              </a:defRPr>
            </a:pPr>
            <a:r>
              <a:t>Capstone Design | 2026학년도 1학기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74320"/>
            <a:ext cx="502920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5840" y="365760"/>
            <a:ext cx="9144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2400" b="1">
                <a:solidFill>
                  <a:srgbClr val="1A1A1A"/>
                </a:solidFill>
                <a:latin typeface="맑은 고딕"/>
              </a:defRPr>
            </a:pPr>
            <a:r>
              <a:t>목차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14400"/>
            <a:ext cx="114300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71600" y="1188720"/>
            <a:ext cx="9418320" cy="640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45920" y="1261872"/>
            <a:ext cx="475488" cy="475488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280160"/>
            <a:ext cx="475488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23444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700" b="1">
                <a:solidFill>
                  <a:srgbClr val="1A1A1A"/>
                </a:solidFill>
                <a:latin typeface="맑은 고딕"/>
              </a:defRPr>
            </a:pPr>
            <a:r>
              <a:t>시스템 개요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1554480"/>
            <a:ext cx="7772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아키텍처 · 판단 로직 · 기술 스택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1920240"/>
            <a:ext cx="9418320" cy="640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45920" y="1993392"/>
            <a:ext cx="475488" cy="475488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2011680"/>
            <a:ext cx="475488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196596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700" b="1">
                <a:solidFill>
                  <a:srgbClr val="1A1A1A"/>
                </a:solidFill>
                <a:latin typeface="맑은 고딕"/>
              </a:defRPr>
            </a:pPr>
            <a:r>
              <a:t>진행 현황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2286000"/>
            <a:ext cx="7772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WBS 기준 수행 결과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2651760"/>
            <a:ext cx="9418320" cy="640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645920" y="2724912"/>
            <a:ext cx="475488" cy="475488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45920" y="2743200"/>
            <a:ext cx="475488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269748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700" b="1">
                <a:solidFill>
                  <a:srgbClr val="1A1A1A"/>
                </a:solidFill>
                <a:latin typeface="맑은 고딕"/>
              </a:defRPr>
            </a:pPr>
            <a:r>
              <a:t>주요 변경 사항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3017520"/>
            <a:ext cx="7772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구현 과정에서 보완·추가된 기능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71600" y="3383280"/>
            <a:ext cx="9418320" cy="640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645920" y="3456432"/>
            <a:ext cx="475488" cy="475488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45920" y="3474720"/>
            <a:ext cx="475488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342900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700" b="1">
                <a:solidFill>
                  <a:srgbClr val="1A1A1A"/>
                </a:solidFill>
                <a:latin typeface="맑은 고딕"/>
              </a:defRPr>
            </a:pPr>
            <a:r>
              <a:t>수행 이슈 및 대응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3749040"/>
            <a:ext cx="7772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RTSP 영상 속도 · 개발 우선순위 조정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71600" y="4114800"/>
            <a:ext cx="9418320" cy="640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645920" y="4187952"/>
            <a:ext cx="475488" cy="475488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45920" y="4206240"/>
            <a:ext cx="475488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77440" y="416052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700" b="1">
                <a:solidFill>
                  <a:srgbClr val="1A1A1A"/>
                </a:solidFill>
                <a:latin typeface="맑은 고딕"/>
              </a:defRPr>
            </a:pPr>
            <a:r>
              <a:t>추가 개발 예정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40" y="4480560"/>
            <a:ext cx="7772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다중 CCTV 프리셋 토글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71600" y="4846320"/>
            <a:ext cx="9418320" cy="640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645920" y="4919472"/>
            <a:ext cx="475488" cy="475488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45920" y="4937760"/>
            <a:ext cx="475488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77440" y="489204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700" b="1">
                <a:solidFill>
                  <a:srgbClr val="1A1A1A"/>
                </a:solidFill>
                <a:latin typeface="맑은 고딕"/>
              </a:defRPr>
            </a:pPr>
            <a:r>
              <a:t>성능 지표 · 리스크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77440" y="5212080"/>
            <a:ext cx="7772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현재 지표와 리스크 관리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371600" y="5577840"/>
            <a:ext cx="9418320" cy="640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645920" y="5650992"/>
            <a:ext cx="475488" cy="475488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45920" y="5669280"/>
            <a:ext cx="475488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77440" y="562356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700" b="1">
                <a:solidFill>
                  <a:srgbClr val="1A1A1A"/>
                </a:solidFill>
                <a:latin typeface="맑은 고딕"/>
              </a:defRPr>
            </a:pPr>
            <a:r>
              <a:t>향후 로드맵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77440" y="5943600"/>
            <a:ext cx="7772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최종 발표까지의 일정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74320"/>
            <a:ext cx="502920" cy="5029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320040"/>
            <a:ext cx="640080" cy="4572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65760"/>
            <a:ext cx="64008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365760"/>
            <a:ext cx="9144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2400" b="1">
                <a:solidFill>
                  <a:srgbClr val="1A1A1A"/>
                </a:solidFill>
                <a:latin typeface="맑은 고딕"/>
              </a:defRPr>
            </a:pPr>
            <a:r>
              <a:t>시스템 아키텍처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14400"/>
            <a:ext cx="114300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ystem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188720"/>
            <a:ext cx="10332720" cy="48463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6126480"/>
            <a:ext cx="11247120" cy="548640"/>
          </a:xfrm>
          <a:prstGeom prst="roundRect">
            <a:avLst/>
          </a:prstGeom>
          <a:solidFill>
            <a:srgbClr val="E8F5E9"/>
          </a:solidFill>
          <a:ln w="9525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2179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  <a:latin typeface="맑은 고딕"/>
              </a:defRPr>
            </a:pPr>
            <a:r>
              <a:t>Input(CCTV·파일) → Transmission(RTSP·파일) → Processing(OpenCV·YOLOv8·ROI) → Output(UI·경고) + Storage(이미지·클립·로그)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74320"/>
            <a:ext cx="502920" cy="5029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320040"/>
            <a:ext cx="640080" cy="4572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65760"/>
            <a:ext cx="64008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365760"/>
            <a:ext cx="9144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2400" b="1">
                <a:solidFill>
                  <a:srgbClr val="1A1A1A"/>
                </a:solidFill>
                <a:latin typeface="맑은 고딕"/>
              </a:defRPr>
            </a:pPr>
            <a:r>
              <a:t>위험 판단 로직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14400"/>
            <a:ext cx="114300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5669280" cy="5303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600" b="1">
                <a:solidFill>
                  <a:srgbClr val="2E7D32"/>
                </a:solidFill>
                <a:latin typeface="맑은 고딕"/>
              </a:defRPr>
            </a:pPr>
            <a:r>
              <a:t>📋 규칙 기반 상태 판단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212080" cy="411480"/>
          </a:xfrm>
          <a:prstGeom prst="roundRect">
            <a:avLst/>
          </a:prstGeom>
          <a:solidFill>
            <a:srgbClr val="2E7D32"/>
          </a:solidFill>
          <a:ln w="952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74519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감지 조건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874519"/>
            <a:ext cx="10972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위치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874519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판단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286000"/>
            <a:ext cx="5212080" cy="45720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377440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맑은 고딕"/>
              </a:defRPr>
            </a:pPr>
            <a:r>
              <a:t>사람 + 차량 동시 감지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377440"/>
            <a:ext cx="10972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ROI 내부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37744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1">
                <a:solidFill>
                  <a:srgbClr val="DC2626"/>
                </a:solidFill>
                <a:latin typeface="맑은 고딕"/>
              </a:defRPr>
            </a:pPr>
            <a:r>
              <a:t>🔴 위험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788920"/>
            <a:ext cx="521208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880360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맑은 고딕"/>
              </a:defRPr>
            </a:pPr>
            <a:r>
              <a:t>사람 + 차량 동시 감지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880360"/>
            <a:ext cx="10972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ROI 외부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288036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1">
                <a:solidFill>
                  <a:srgbClr val="4CAF50"/>
                </a:solidFill>
                <a:latin typeface="맑은 고딕"/>
              </a:defRPr>
            </a:pPr>
            <a:r>
              <a:t>🟢 정상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291840"/>
            <a:ext cx="5212080" cy="45720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383280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맑은 고딕"/>
              </a:defRPr>
            </a:pPr>
            <a:r>
              <a:t>사람만 감지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3383280"/>
            <a:ext cx="10972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내/외 무관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338328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1">
                <a:solidFill>
                  <a:srgbClr val="4CAF50"/>
                </a:solidFill>
                <a:latin typeface="맑은 고딕"/>
              </a:defRPr>
            </a:pPr>
            <a:r>
              <a:t>🟢 정상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794760"/>
            <a:ext cx="521208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886200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맑은 고딕"/>
              </a:defRPr>
            </a:pPr>
            <a:r>
              <a:t>차량만 감지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3886200"/>
            <a:ext cx="10972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내/외 무관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388620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1">
                <a:solidFill>
                  <a:srgbClr val="4CAF50"/>
                </a:solidFill>
                <a:latin typeface="맑은 고딕"/>
              </a:defRPr>
            </a:pPr>
            <a:r>
              <a:t>🟢 정상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297680"/>
            <a:ext cx="5212080" cy="45720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4389120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맑은 고딕"/>
              </a:defRPr>
            </a:pPr>
            <a:r>
              <a:t>아무것도 없음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4389120"/>
            <a:ext cx="10972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438912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1">
                <a:solidFill>
                  <a:srgbClr val="4CAF50"/>
                </a:solidFill>
                <a:latin typeface="맑은 고딕"/>
              </a:defRPr>
            </a:pPr>
            <a:r>
              <a:t>🟢 정상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1188720"/>
            <a:ext cx="5303520" cy="5303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132588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600" b="1">
                <a:solidFill>
                  <a:srgbClr val="2E7D32"/>
                </a:solidFill>
                <a:latin typeface="맑은 고딕"/>
              </a:defRPr>
            </a:pPr>
            <a:r>
              <a:t>⚡ 이벤트 발생 플로우</a:t>
            </a:r>
          </a:p>
        </p:txBody>
      </p:sp>
      <p:sp>
        <p:nvSpPr>
          <p:cNvPr id="35" name="Oval 34"/>
          <p:cNvSpPr/>
          <p:nvPr/>
        </p:nvSpPr>
        <p:spPr>
          <a:xfrm>
            <a:off x="6675120" y="1920240"/>
            <a:ext cx="365760" cy="36576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0" y="1920240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78040" y="1874520"/>
            <a:ext cx="43891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맑은 고딕"/>
              </a:defRPr>
            </a:pPr>
            <a:r>
              <a:t>프레임 수신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78040" y="2194560"/>
            <a:ext cx="43891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CCTV·영상에서 프레임 획득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39712" y="2331720"/>
            <a:ext cx="73152" cy="228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675120" y="2670048"/>
            <a:ext cx="365760" cy="3657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75120" y="2670048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78040" y="2624328"/>
            <a:ext cx="43891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맑은 고딕"/>
              </a:defRPr>
            </a:pPr>
            <a:r>
              <a:t>객체 탐지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78040" y="2944368"/>
            <a:ext cx="43891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YOLOv8로 person·car 인식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839712" y="3081528"/>
            <a:ext cx="73152" cy="228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675120" y="3419856"/>
            <a:ext cx="365760" cy="365760"/>
          </a:xfrm>
          <a:prstGeom prst="ellipse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75120" y="3419856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78040" y="3374136"/>
            <a:ext cx="43891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맑은 고딕"/>
              </a:defRPr>
            </a:pPr>
            <a:r>
              <a:t>ROI 판정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78040" y="3694176"/>
            <a:ext cx="43891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사람 발 위치가 ROI 내부인지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839712" y="3831336"/>
            <a:ext cx="73152" cy="228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675120" y="4169664"/>
            <a:ext cx="365760" cy="36576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75120" y="4169664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78040" y="4123944"/>
            <a:ext cx="43891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맑은 고딕"/>
              </a:defRPr>
            </a:pPr>
            <a:r>
              <a:t>상태 결정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78040" y="4443984"/>
            <a:ext cx="43891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정상 / 위험 규칙 적용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839712" y="4581144"/>
            <a:ext cx="73152" cy="228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675120" y="4919472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675120" y="4919472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178040" y="4873752"/>
            <a:ext cx="43891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맑은 고딕"/>
              </a:defRPr>
            </a:pPr>
            <a:r>
              <a:t>이벤트 트리거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78040" y="5193792"/>
            <a:ext cx="43891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정상 → 위험 전환 순간에만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839712" y="5330952"/>
            <a:ext cx="73152" cy="228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675120" y="5669279"/>
            <a:ext cx="365760" cy="36576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675120" y="5669279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178040" y="5623559"/>
            <a:ext cx="43891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맑은 고딕"/>
              </a:defRPr>
            </a:pPr>
            <a:r>
              <a:t>저장 + 경고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178040" y="5943599"/>
            <a:ext cx="43891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이미지·클립·로그 + 시청각 경고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74320"/>
            <a:ext cx="502920" cy="5029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320040"/>
            <a:ext cx="640080" cy="4572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65760"/>
            <a:ext cx="64008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365760"/>
            <a:ext cx="9144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2400" b="1">
                <a:solidFill>
                  <a:srgbClr val="1A1A1A"/>
                </a:solidFill>
                <a:latin typeface="맑은 고딕"/>
              </a:defRPr>
            </a:pPr>
            <a:r>
              <a:t>기술 스택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14400"/>
            <a:ext cx="114300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2743200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63040" y="1508760"/>
            <a:ext cx="731520" cy="7315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1572768"/>
            <a:ext cx="7315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Segoe UI Emoji"/>
              </a:defRPr>
            </a:pPr>
            <a:r>
              <a:t>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500" b="1">
                <a:solidFill>
                  <a:srgbClr val="1A1A1A"/>
                </a:solidFill>
                <a:latin typeface="맑은 고딕"/>
              </a:defRPr>
            </a:pPr>
            <a:r>
              <a:t>Python 3.13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43200"/>
            <a:ext cx="256032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메인 개발 언어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280160"/>
            <a:ext cx="2743200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89120" y="1508760"/>
            <a:ext cx="731520" cy="7315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572768"/>
            <a:ext cx="7315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Segoe UI Emoji"/>
              </a:defRPr>
            </a:pPr>
            <a:r>
              <a:t>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331720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500" b="1">
                <a:solidFill>
                  <a:srgbClr val="1A1A1A"/>
                </a:solidFill>
                <a:latin typeface="맑은 고딕"/>
              </a:defRPr>
            </a:pPr>
            <a:r>
              <a:t>YOLOv8 (Nano)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743200"/>
            <a:ext cx="256032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객체 탐지 모델</a:t>
            </a:r>
            <a:br/>
            <a:r>
              <a:t>AGPL-3.0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280160"/>
            <a:ext cx="2743200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0" y="1508760"/>
            <a:ext cx="731520" cy="73152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1572768"/>
            <a:ext cx="7315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Segoe UI Emoji"/>
              </a:defRPr>
            </a:pPr>
            <a:r>
              <a:t>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331720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500" b="1">
                <a:solidFill>
                  <a:srgbClr val="1A1A1A"/>
                </a:solidFill>
                <a:latin typeface="맑은 고딕"/>
              </a:defRPr>
            </a:pPr>
            <a:r>
              <a:t>OpenCV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743200"/>
            <a:ext cx="256032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영상 프레임 처리</a:t>
            </a:r>
            <a:br/>
            <a:r>
              <a:t>RTSP 디코딩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35440" y="1280160"/>
            <a:ext cx="2743200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508760"/>
            <a:ext cx="731520" cy="731520"/>
          </a:xfrm>
          <a:prstGeom prst="ellipse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0" y="1572768"/>
            <a:ext cx="7315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Segoe UI Emoji"/>
              </a:defRPr>
            </a:pPr>
            <a:r>
              <a:t>🖥️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2331720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500" b="1">
                <a:solidFill>
                  <a:srgbClr val="1A1A1A"/>
                </a:solidFill>
                <a:latin typeface="맑은 고딕"/>
              </a:defRPr>
            </a:pPr>
            <a:r>
              <a:t>Streamlit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2743200"/>
            <a:ext cx="256032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웹 기반 UI</a:t>
            </a:r>
            <a:br/>
            <a:r>
              <a:t>빠른 프로토타이핑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840480"/>
            <a:ext cx="2743200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463040" y="4069080"/>
            <a:ext cx="731520" cy="73152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63040" y="4133088"/>
            <a:ext cx="7315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Segoe UI Emoji"/>
              </a:defRPr>
            </a:pPr>
            <a:r>
              <a:t>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892040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500" b="1">
                <a:solidFill>
                  <a:srgbClr val="1A1A1A"/>
                </a:solidFill>
                <a:latin typeface="맑은 고딕"/>
              </a:defRPr>
            </a:pPr>
            <a:r>
              <a:t>RTSP + H.264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303520"/>
            <a:ext cx="256032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실시간 CCTV</a:t>
            </a:r>
            <a:br/>
            <a:r>
              <a:t>스트리밍 프로토콜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83280" y="3840480"/>
            <a:ext cx="2743200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389120" y="406908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89120" y="4133088"/>
            <a:ext cx="7315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Segoe UI Emoji"/>
              </a:defRPr>
            </a:pPr>
            <a:r>
              <a:t>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0" y="4892040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500" b="1">
                <a:solidFill>
                  <a:srgbClr val="1A1A1A"/>
                </a:solidFill>
                <a:latin typeface="맑은 고딕"/>
              </a:defRPr>
            </a:pPr>
            <a:r>
              <a:t>imageio-ffmpeg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5303520"/>
            <a:ext cx="256032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H.264 클립 변환</a:t>
            </a:r>
            <a:br/>
            <a:r>
              <a:t>브라우저 재생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09360" y="3840480"/>
            <a:ext cx="2743200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315200" y="4069080"/>
            <a:ext cx="731520" cy="73152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0" y="4133088"/>
            <a:ext cx="7315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Segoe UI Emoji"/>
              </a:defRPr>
            </a:pPr>
            <a:r>
              <a:t>☁️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4892040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500" b="1">
                <a:solidFill>
                  <a:srgbClr val="1A1A1A"/>
                </a:solidFill>
                <a:latin typeface="맑은 고딕"/>
              </a:defRPr>
            </a:pPr>
            <a:r>
              <a:t>Cloudflare Tunnel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5303520"/>
            <a:ext cx="256032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외부 공유 배포</a:t>
            </a:r>
            <a:br/>
            <a:r>
              <a:t>무료 HTTPS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235440" y="3840480"/>
            <a:ext cx="2743200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241280" y="4069080"/>
            <a:ext cx="731520" cy="73152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241280" y="4133088"/>
            <a:ext cx="7315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Segoe UI Emoji"/>
              </a:defRPr>
            </a:pPr>
            <a:r>
              <a:t>🧬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26880" y="4892040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500" b="1">
                <a:solidFill>
                  <a:srgbClr val="1A1A1A"/>
                </a:solidFill>
                <a:latin typeface="맑은 고딕"/>
              </a:defRPr>
            </a:pPr>
            <a:r>
              <a:t>GitHub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0" y="5303520"/>
            <a:ext cx="256032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버전 관리</a:t>
            </a:r>
            <a:br/>
            <a:r>
              <a:t>협업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74320"/>
            <a:ext cx="502920" cy="5029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320040"/>
            <a:ext cx="640080" cy="4572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65760"/>
            <a:ext cx="64008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365760"/>
            <a:ext cx="9144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2400" b="1">
                <a:solidFill>
                  <a:srgbClr val="1A1A1A"/>
                </a:solidFill>
                <a:latin typeface="맑은 고딕"/>
              </a:defRPr>
            </a:pPr>
            <a:r>
              <a:t>진행 현황 — WBS 단계별 수행 결과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14400"/>
            <a:ext cx="114300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85800" y="1389888"/>
            <a:ext cx="502920" cy="50292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08176"/>
            <a:ext cx="502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325880"/>
            <a:ext cx="6400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700" b="1">
                <a:solidFill>
                  <a:srgbClr val="1A1A1A"/>
                </a:solidFill>
                <a:latin typeface="맑은 고딕"/>
              </a:defRPr>
            </a:pPr>
            <a:r>
              <a:t>프로젝트 기획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691640"/>
            <a:ext cx="6400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3/3 ~ 3/15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75520" y="1463040"/>
            <a:ext cx="1554480" cy="36576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0" y="1499616"/>
            <a:ext cx="15544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완료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240280"/>
            <a:ext cx="1124712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2441448"/>
            <a:ext cx="502920" cy="50292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459736"/>
            <a:ext cx="502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2377440"/>
            <a:ext cx="6400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700" b="1">
                <a:solidFill>
                  <a:srgbClr val="1A1A1A"/>
                </a:solidFill>
                <a:latin typeface="맑은 고딕"/>
              </a:defRPr>
            </a:pPr>
            <a:r>
              <a:t>기초 조사 및 계획 수립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2743200"/>
            <a:ext cx="6400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3/12 ~ 3/19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75520" y="2514600"/>
            <a:ext cx="1554480" cy="36576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0" y="2551176"/>
            <a:ext cx="15544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완료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291840"/>
            <a:ext cx="1124712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800" y="3493008"/>
            <a:ext cx="502920" cy="50292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511296"/>
            <a:ext cx="502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3429000"/>
            <a:ext cx="6400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700" b="1">
                <a:solidFill>
                  <a:srgbClr val="1A1A1A"/>
                </a:solidFill>
                <a:latin typeface="맑은 고딕"/>
              </a:defRPr>
            </a:pPr>
            <a:r>
              <a:t>시스템 설계 · 핵심 모듈 개발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3794760"/>
            <a:ext cx="6400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3/12 ~ 4/12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75520" y="3566160"/>
            <a:ext cx="1554480" cy="36576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0" y="3602736"/>
            <a:ext cx="15544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완료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343399"/>
            <a:ext cx="1124712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85800" y="4544567"/>
            <a:ext cx="502920" cy="5029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562855"/>
            <a:ext cx="502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4480559"/>
            <a:ext cx="6400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700" b="1">
                <a:solidFill>
                  <a:srgbClr val="1A1A1A"/>
                </a:solidFill>
                <a:latin typeface="맑은 고딕"/>
              </a:defRPr>
            </a:pPr>
            <a:r>
              <a:t>중간 점검 및 UI 보완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4846319"/>
            <a:ext cx="6400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3/30 ~ 4/22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875520" y="4617719"/>
            <a:ext cx="1554480" cy="3657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75520" y="4654295"/>
            <a:ext cx="15544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진행 중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394960"/>
            <a:ext cx="1124712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85800" y="5596128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5614416"/>
            <a:ext cx="502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63040" y="5532120"/>
            <a:ext cx="6400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700" b="1">
                <a:solidFill>
                  <a:srgbClr val="1A1A1A"/>
                </a:solidFill>
                <a:latin typeface="맑은 고딕"/>
              </a:defRPr>
            </a:pPr>
            <a:r>
              <a:t>통합 테스트 및 최종 마무리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63040" y="5897880"/>
            <a:ext cx="6400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4/10 ~ 6/11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875520" y="5669280"/>
            <a:ext cx="1554480" cy="3657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875520" y="5705856"/>
            <a:ext cx="15544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진행 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74320"/>
            <a:ext cx="502920" cy="5029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320040"/>
            <a:ext cx="640080" cy="4572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65760"/>
            <a:ext cx="64008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365760"/>
            <a:ext cx="9144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2400" b="1">
                <a:solidFill>
                  <a:srgbClr val="1A1A1A"/>
                </a:solidFill>
                <a:latin typeface="맑은 고딕"/>
              </a:defRPr>
            </a:pPr>
            <a:r>
              <a:t>핵심 모듈 및 UI 구현 결과 (WBS 3~4단계)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14400"/>
            <a:ext cx="114300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5669280" cy="5303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600" b="1">
                <a:solidFill>
                  <a:srgbClr val="2E7D32"/>
                </a:solidFill>
                <a:latin typeface="맑은 고딕"/>
              </a:defRPr>
            </a:pPr>
            <a:r>
              <a:t>🔧 3단계  시스템 설계 · 핵심 모듈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맑은 고딕"/>
              </a:defRPr>
            </a:pPr>
            <a:r>
              <a:t>  ✓  시스템 구조 설계 및 화면 구성안 (3.1)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7744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맑은 고딕"/>
              </a:defRPr>
            </a:pPr>
            <a:r>
              <a:t>  ✓  영상 입력 처리 (RTSP / 로컬 파일)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2608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맑은 고딕"/>
              </a:defRPr>
            </a:pPr>
            <a:r>
              <a:t>  ✓  YOLOv8 기반 객체 인식 구현 (3.2)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474719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맑은 고딕"/>
              </a:defRPr>
            </a:pPr>
            <a:r>
              <a:t>  ✓  ROI 수동 지정 — 마우스 드로잉 (3.3)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02336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맑은 고딕"/>
              </a:defRPr>
            </a:pPr>
            <a:r>
              <a:t>  ✓  규칙 기반 위험 판단 로직 (3.3)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57200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맑은 고딕"/>
              </a:defRPr>
            </a:pPr>
            <a:r>
              <a:t>  ✓  시각 경고 · 병렬 프로토타이핑 (3.4)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188720"/>
            <a:ext cx="5303520" cy="5303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132588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600" b="1">
                <a:solidFill>
                  <a:srgbClr val="2E7D32"/>
                </a:solidFill>
                <a:latin typeface="맑은 고딕"/>
              </a:defRPr>
            </a:pPr>
            <a:r>
              <a:t>🎨 4단계  중간 점검 · UI 보완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182880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  ✓  프로토타입 1차 구현 · 실행 검증 (4.1)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28600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  ✓  노션 기록 및 발표 자료 제작 (4.2)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74320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  ✓  이벤트 이미지 / 클립 저장 기능 (4.3)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320040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  ✓  전 5초 + 후 10초 자동 녹화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365760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  ✓  캘린더 기반 이벤트 다시보기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411480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  ✓  영상 H.264 자동 변환 재생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457200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  ✓  3컬럼 대시보드 UI 개편 (4.4)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502920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  ✓  SAFEVIEW 브랜딩 · 로고 적용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548640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  ✓  경고음 추가 (Web Audio API)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594360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  ✓  Cloudflare Tunnel 외부 공유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74320"/>
            <a:ext cx="502920" cy="5029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320040"/>
            <a:ext cx="640080" cy="4572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65760"/>
            <a:ext cx="64008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365760"/>
            <a:ext cx="9144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2400" b="1">
                <a:solidFill>
                  <a:srgbClr val="1A1A1A"/>
                </a:solidFill>
                <a:latin typeface="맑은 고딕"/>
              </a:defRPr>
            </a:pPr>
            <a:r>
              <a:t>과제계획서 대비 주요 변경 사항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14400"/>
            <a:ext cx="114300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457200"/>
          </a:xfrm>
          <a:prstGeom prst="roundRect">
            <a:avLst/>
          </a:prstGeom>
          <a:solidFill>
            <a:srgbClr val="2E7D32"/>
          </a:solidFill>
          <a:ln w="952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32004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항목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280160"/>
            <a:ext cx="3657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원 계획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280160"/>
            <a:ext cx="38404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구현 결과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737360"/>
            <a:ext cx="11247120" cy="54864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874520"/>
            <a:ext cx="32004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맑은 고딕"/>
              </a:defRPr>
            </a:pPr>
            <a:r>
              <a:t>ROI 설정 방식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1874520"/>
            <a:ext cx="38404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좌표 텍스트 직접 입력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1874520"/>
            <a:ext cx="38404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  <a:latin typeface="맑은 고딕"/>
              </a:defRPr>
            </a:pPr>
            <a:r>
              <a:t>마우스 클릭으로 다각형 드로잉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359152"/>
            <a:ext cx="1124712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496312"/>
            <a:ext cx="32004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맑은 고딕"/>
              </a:defRPr>
            </a:pPr>
            <a:r>
              <a:t>영상 클립 재생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2496312"/>
            <a:ext cx="38404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OpenCV mp4v 코덱 저장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2496312"/>
            <a:ext cx="38404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  <a:latin typeface="맑은 고딕"/>
              </a:defRPr>
            </a:pPr>
            <a:r>
              <a:t>H.264 자동 변환 → 브라우저 재생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980944"/>
            <a:ext cx="11247120" cy="54864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118104"/>
            <a:ext cx="32004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맑은 고딕"/>
              </a:defRPr>
            </a:pPr>
            <a:r>
              <a:t>녹화 구간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3118104"/>
            <a:ext cx="38404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이벤트 발생 시점 이전만 저장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3118104"/>
            <a:ext cx="38404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  <a:latin typeface="맑은 고딕"/>
              </a:defRPr>
            </a:pPr>
            <a:r>
              <a:t>전 5초 + 후 10초 (총 15초)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602736"/>
            <a:ext cx="1124712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739896"/>
            <a:ext cx="32004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맑은 고딕"/>
              </a:defRPr>
            </a:pPr>
            <a:r>
              <a:t>이벤트 조회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3739896"/>
            <a:ext cx="38404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CSV 로그만 제공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3739896"/>
            <a:ext cx="38404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  <a:latin typeface="맑은 고딕"/>
              </a:defRPr>
            </a:pPr>
            <a:r>
              <a:t>캘린더 UI + 썸네일 + 영상 재생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224528"/>
            <a:ext cx="11247120" cy="54864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361688"/>
            <a:ext cx="32004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맑은 고딕"/>
              </a:defRPr>
            </a:pPr>
            <a:r>
              <a:t>외부 공유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4361688"/>
            <a:ext cx="38404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로컬 실행만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4361688"/>
            <a:ext cx="38404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  <a:latin typeface="맑은 고딕"/>
              </a:defRPr>
            </a:pPr>
            <a:r>
              <a:t>Cloudflare Tunnel 링크 공유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846320"/>
            <a:ext cx="1124712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983480"/>
            <a:ext cx="32004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맑은 고딕"/>
              </a:defRPr>
            </a:pPr>
            <a:r>
              <a:t>경고 방식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0" y="4983480"/>
            <a:ext cx="38404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시각 경고만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4983480"/>
            <a:ext cx="38404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  <a:latin typeface="맑은 고딕"/>
              </a:defRPr>
            </a:pPr>
            <a:r>
              <a:t>시각 + 청각(경고음) 동시 제공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468112"/>
            <a:ext cx="11247120" cy="54864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5605272"/>
            <a:ext cx="32004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맑은 고딕"/>
              </a:defRPr>
            </a:pPr>
            <a:r>
              <a:t>UI 디자인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0" y="5605272"/>
            <a:ext cx="38404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기본 Streamlit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5605272"/>
            <a:ext cx="38404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  <a:latin typeface="맑은 고딕"/>
              </a:defRPr>
            </a:pPr>
            <a:r>
              <a:t>SAFEVIEW 브랜딩 · 3컬럼 레이아웃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74320"/>
            <a:ext cx="502920" cy="5029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320040"/>
            <a:ext cx="640080" cy="4572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65760"/>
            <a:ext cx="64008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365760"/>
            <a:ext cx="9144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2400" b="1">
                <a:solidFill>
                  <a:srgbClr val="1A1A1A"/>
                </a:solidFill>
                <a:latin typeface="맑은 고딕"/>
              </a:defRPr>
            </a:pPr>
            <a:r>
              <a:t>이슈 ① 실시간 영상 화면 깜빡임 현상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14400"/>
            <a:ext cx="114300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1188720"/>
          </a:xfrm>
          <a:prstGeom prst="roundRect">
            <a:avLst/>
          </a:prstGeom>
          <a:solidFill>
            <a:srgbClr val="FEF2F2"/>
          </a:solidFill>
          <a:ln w="952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298448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500" b="1">
                <a:solidFill>
                  <a:srgbClr val="DC2626"/>
                </a:solidFill>
                <a:latin typeface="맑은 고딕"/>
              </a:defRPr>
            </a:pPr>
            <a:r>
              <a:t>⚠️ 증상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64208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자택 CCTV(RTSP) 연동은 정상 작동했으나, 실시간 영상이 매 프레임마다</a:t>
            </a:r>
            <a:br/>
            <a:r>
              <a:t>하얗게 깜빡이며 심한 플리커 현상 발생 → 시인성 저하 및 발표 시연 불가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514600"/>
            <a:ext cx="5669280" cy="3108960"/>
          </a:xfrm>
          <a:prstGeom prst="roundRect">
            <a:avLst/>
          </a:prstGeom>
          <a:solidFill>
            <a:srgbClr val="FEF2F2"/>
          </a:solidFill>
          <a:ln w="952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ode_bef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606040"/>
            <a:ext cx="5486400" cy="29260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309360" y="2514600"/>
            <a:ext cx="5486400" cy="3108960"/>
          </a:xfrm>
          <a:prstGeom prst="roundRect">
            <a:avLst/>
          </a:prstGeom>
          <a:solidFill>
            <a:srgbClr val="E8F5E9"/>
          </a:solidFill>
          <a:ln w="9525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ode_af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606040"/>
            <a:ext cx="5303520" cy="292608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57200" y="5715000"/>
            <a:ext cx="11247120" cy="777240"/>
          </a:xfrm>
          <a:prstGeom prst="roundRect">
            <a:avLst/>
          </a:prstGeom>
          <a:solidFill>
            <a:srgbClr val="E8F5E9"/>
          </a:solidFill>
          <a:ln w="9525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760720"/>
            <a:ext cx="5029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300" b="1">
                <a:solidFill>
                  <a:srgbClr val="DC2626"/>
                </a:solidFill>
                <a:latin typeface="맑은 고딕"/>
              </a:defRPr>
            </a:pPr>
            <a:r>
              <a:t>🔍 원인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0533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맑은 고딕"/>
              </a:defRPr>
            </a:pPr>
            <a:r>
              <a:t>st.rerun()이 매 프레임마다 페이지 전체를 리렌더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5760720"/>
            <a:ext cx="54864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  <a:latin typeface="맑은 고딕"/>
              </a:defRPr>
            </a:pPr>
            <a:r>
              <a:t>✅ 해결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6053328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맑은 고딕"/>
              </a:defRPr>
            </a:pPr>
            <a:r>
              <a:t>while 루프 + st.empty() placeholder에 이미지만 직접 갱신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74320"/>
            <a:ext cx="502920" cy="5029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320040"/>
            <a:ext cx="640080" cy="4572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65760"/>
            <a:ext cx="64008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365760"/>
            <a:ext cx="9144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2400" b="1">
                <a:solidFill>
                  <a:srgbClr val="1A1A1A"/>
                </a:solidFill>
                <a:latin typeface="맑은 고딕"/>
              </a:defRPr>
            </a:pPr>
            <a:r>
              <a:t>이슈 ② RTSP 실시간 영상 처리 속도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14400"/>
            <a:ext cx="114300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1371600"/>
          </a:xfrm>
          <a:prstGeom prst="roundRect">
            <a:avLst/>
          </a:prstGeom>
          <a:solidFill>
            <a:srgbClr val="FFFBEB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600" b="1">
                <a:solidFill>
                  <a:srgbClr val="EA580C"/>
                </a:solidFill>
                <a:latin typeface="맑은 고딕"/>
              </a:defRPr>
            </a:pPr>
            <a:r>
              <a:t>📋 현황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맑은 고딕"/>
              </a:defRPr>
            </a:pPr>
            <a:r>
              <a:t>고해상도 RTSP 스트림(1080p) 처리 시 재생 지연 · 끊김 현상 발생 가능</a:t>
            </a:r>
            <a:br/>
            <a:r>
              <a:t>→ 주요 요인: 네트워크 대역폭 · YOLO 추론 부하 · 웹 프레임 전송 속도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743200"/>
            <a:ext cx="11247120" cy="3749039"/>
          </a:xfrm>
          <a:prstGeom prst="roundRect">
            <a:avLst/>
          </a:prstGeom>
          <a:solidFill>
            <a:srgbClr val="E8F5E9"/>
          </a:solidFill>
          <a:ln w="9525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8803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600" b="1">
                <a:solidFill>
                  <a:srgbClr val="2E7D32"/>
                </a:solidFill>
                <a:latin typeface="맑은 고딕"/>
              </a:defRPr>
            </a:pPr>
            <a:r>
              <a:t>✅ 적용한 최적화 및 향후 계획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37560"/>
            <a:ext cx="777240" cy="36576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383280"/>
            <a:ext cx="7772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적용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355848"/>
            <a:ext cx="30175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맑은 고딕"/>
              </a:defRPr>
            </a:pPr>
            <a:r>
              <a:t>RTSP 백그라운드 스레드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383280"/>
            <a:ext cx="6858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네트워크 대기 시간을 메인 루프에서 분리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840480"/>
            <a:ext cx="777240" cy="36576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886200"/>
            <a:ext cx="7772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적용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3858768"/>
            <a:ext cx="30175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맑은 고딕"/>
              </a:defRPr>
            </a:pPr>
            <a:r>
              <a:t>FRAME_SKIP 기반 추론 주기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3886200"/>
            <a:ext cx="6858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2프레임당 1회 YOLO 실행 → 부하 50% 감소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343400"/>
            <a:ext cx="777240" cy="36576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389120"/>
            <a:ext cx="7772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적용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4361688"/>
            <a:ext cx="30175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맑은 고딕"/>
              </a:defRPr>
            </a:pPr>
            <a:r>
              <a:t>탐지 결과 캐싱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4389120"/>
            <a:ext cx="6858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스킵 프레임에서 직전 바운딩 박스 유지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846320"/>
            <a:ext cx="777240" cy="36576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892040"/>
            <a:ext cx="7772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적용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40" y="4864608"/>
            <a:ext cx="30175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맑은 고딕"/>
              </a:defRPr>
            </a:pPr>
            <a:r>
              <a:t>원격 접속 자동 감지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4892040"/>
            <a:ext cx="6858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Host 헤더로 판별 → 외부 접속 시 해상도 축소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349240"/>
            <a:ext cx="777240" cy="3657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394960"/>
            <a:ext cx="7772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계획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91640" y="5367528"/>
            <a:ext cx="30175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맑은 고딕"/>
              </a:defRPr>
            </a:pPr>
            <a:r>
              <a:t>모델 경량화 벤치마크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5394960"/>
            <a:ext cx="6858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YOLOv8n vs YOLOv8s 속도·정확도 비교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5852160"/>
            <a:ext cx="777240" cy="3657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5897880"/>
            <a:ext cx="7772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계획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91640" y="5870448"/>
            <a:ext cx="30175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맑은 고딕"/>
              </a:defRPr>
            </a:pPr>
            <a:r>
              <a:t>GPU 추론 환경 검토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0" y="5897880"/>
            <a:ext cx="6858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CUDA 활용 시 추론 속도 3~5배 향상 기대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74320"/>
            <a:ext cx="502920" cy="5029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320040"/>
            <a:ext cx="640080" cy="4572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65760"/>
            <a:ext cx="64008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365760"/>
            <a:ext cx="9144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2400" b="1">
                <a:solidFill>
                  <a:srgbClr val="1A1A1A"/>
                </a:solidFill>
                <a:latin typeface="맑은 고딕"/>
              </a:defRPr>
            </a:pPr>
            <a:r>
              <a:t>이슈 ③ 개발 우선순위 조정 — 자체 데이터셋 학습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14400"/>
            <a:ext cx="114300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1463040"/>
          </a:xfrm>
          <a:prstGeom prst="roundRect">
            <a:avLst/>
          </a:prstGeom>
          <a:solidFill>
            <a:srgbClr val="FFFBEB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600" b="1">
                <a:solidFill>
                  <a:srgbClr val="EA580C"/>
                </a:solidFill>
                <a:latin typeface="맑은 고딕"/>
              </a:defRPr>
            </a:pPr>
            <a:r>
              <a:t>📋 배경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109728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맑은 고딕"/>
              </a:defRPr>
            </a:pPr>
            <a:r>
              <a:t>사전 계획: 사각지대 환경 특화 자체 데이터셋 구축 및 Fine-tuning 학습</a:t>
            </a:r>
            <a:br/>
            <a:r>
              <a:t>실제 검토: 학습 데이터 확보·라벨링·검증 리소스 대비 성능 개선 폭 제한적으로 판단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834640"/>
            <a:ext cx="11247120" cy="155448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9718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맑은 고딕"/>
              </a:defRPr>
            </a:pPr>
            <a:r>
              <a:t>💡 의사결정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37560"/>
            <a:ext cx="1097280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맑은 고딕"/>
              </a:defRPr>
            </a:pPr>
            <a:r>
              <a:t>교수님 피드백 반영 → 자체 데이터셋 학습 생략, 확보한 리소스를 다음 항목에 재투자</a:t>
            </a:r>
            <a:br/>
            <a:r>
              <a:t>COCO 사전학습 YOLOv8n 모델 유지 (person/car 클래스 성능 검증 완료)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572000"/>
            <a:ext cx="11247120" cy="1920240"/>
          </a:xfrm>
          <a:prstGeom prst="roundRect">
            <a:avLst/>
          </a:prstGeom>
          <a:solidFill>
            <a:srgbClr val="E8F5E9"/>
          </a:solidFill>
          <a:ln w="9525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7091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600" b="1">
                <a:solidFill>
                  <a:srgbClr val="2E7D32"/>
                </a:solidFill>
                <a:latin typeface="맑은 고딕"/>
              </a:defRPr>
            </a:pPr>
            <a:r>
              <a:t>✅ 리소스 재투자 방향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166360"/>
            <a:ext cx="29260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  <a:latin typeface="맑은 고딕"/>
              </a:defRPr>
            </a:pPr>
            <a:r>
              <a:t>● 시스템 안정성 강화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5166360"/>
            <a:ext cx="77724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장시간 운용 테스트 · 메모리 누수 제거 · 오류 처리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577840"/>
            <a:ext cx="29260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  <a:latin typeface="맑은 고딕"/>
              </a:defRPr>
            </a:pPr>
            <a:r>
              <a:t>● 오탐·미탐 분석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5577840"/>
            <a:ext cx="77724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실환경 데이터로 규칙 기반 판단 로직 튜닝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989320"/>
            <a:ext cx="29260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  <a:latin typeface="맑은 고딕"/>
              </a:defRPr>
            </a:pPr>
            <a:r>
              <a:t>● UX · 운영 편의성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5989320"/>
            <a:ext cx="77724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다중 CCTV 프리셋 토글 · 관리자 편의 기능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74320"/>
            <a:ext cx="502920" cy="5029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320040"/>
            <a:ext cx="640080" cy="4572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65760"/>
            <a:ext cx="64008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365760"/>
            <a:ext cx="9144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2400" b="1">
                <a:solidFill>
                  <a:srgbClr val="1A1A1A"/>
                </a:solidFill>
                <a:latin typeface="맑은 고딕"/>
              </a:defRPr>
            </a:pPr>
            <a:r>
              <a:t>추가 개발 예정 — 다중 CCTV 프리셋 토글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14400"/>
            <a:ext cx="114300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1280160"/>
          </a:xfrm>
          <a:prstGeom prst="roundRect">
            <a:avLst/>
          </a:prstGeom>
          <a:solidFill>
            <a:srgbClr val="FAF5FF"/>
          </a:solidFill>
          <a:ln w="9525">
            <a:solidFill>
              <a:srgbClr val="933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600" b="1">
                <a:solidFill>
                  <a:srgbClr val="9333EA"/>
                </a:solidFill>
                <a:latin typeface="맑은 고딕"/>
              </a:defRPr>
            </a:pPr>
            <a:r>
              <a:t>🎯 도입 배경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맑은 고딕"/>
              </a:defRPr>
            </a:pPr>
            <a:r>
              <a:t>현재는 모니터링할 카메라를 바꿀 때마다 RTSP 주소를 직접 입력해야 함 → 운영 비효율</a:t>
            </a:r>
            <a:br/>
            <a:r>
              <a:t>실제 관제 환경(주차장·골목·입구 등 다중 지점)을 고려한 UX 개선 필요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51760"/>
            <a:ext cx="5486400" cy="3840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78892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500" b="1">
                <a:solidFill>
                  <a:srgbClr val="2E7D32"/>
                </a:solidFill>
                <a:latin typeface="맑은 고딕"/>
              </a:defRPr>
            </a:pPr>
            <a:r>
              <a:t>📐 구현 방식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0040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맑은 고딕"/>
              </a:defRPr>
            </a:pPr>
            <a:r>
              <a:t>● 프리셋 저장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47472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JSON 파일에 카메라별 RTSP 주소·이름 사전 등록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79476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맑은 고딕"/>
              </a:defRPr>
            </a:pPr>
            <a:r>
              <a:t>● 토글 버튼 UI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06908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사이드바에 카메라 선택 버튼 그룹 배치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38912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맑은 고딕"/>
              </a:defRPr>
            </a:pPr>
            <a:r>
              <a:t>● 원클릭 전환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66344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버튼 클릭 시 주소 자동 입력 + 즉시 연결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98348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맑은 고딕"/>
              </a:defRPr>
            </a:pPr>
            <a:r>
              <a:t>● 이름·설명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25780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'주차장', '골목', '입구' 등 식별자 표시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57784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맑은 고딕"/>
              </a:defRPr>
            </a:pPr>
            <a:r>
              <a:t>● 보안 강화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85216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자격증명은 secrets.toml에서 관리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651760"/>
            <a:ext cx="5486400" cy="3840480"/>
          </a:xfrm>
          <a:prstGeom prst="roundRect">
            <a:avLst/>
          </a:prstGeom>
          <a:solidFill>
            <a:srgbClr val="E8F5E9"/>
          </a:solidFill>
          <a:ln w="9525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78892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500" b="1">
                <a:solidFill>
                  <a:srgbClr val="2E7D32"/>
                </a:solidFill>
                <a:latin typeface="맑은 고딕"/>
              </a:defRPr>
            </a:pPr>
            <a:r>
              <a:t>✨ 기대 효과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24612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  <a:latin typeface="맑은 고딕"/>
              </a:defRPr>
            </a:pPr>
            <a:r>
              <a:t>✓ 운영 편의성 향상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352044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맑은 고딕"/>
              </a:defRPr>
            </a:pPr>
            <a:r>
              <a:t>입력 오류 방지 · 전환 시간 최소화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97764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  <a:latin typeface="맑은 고딕"/>
              </a:defRPr>
            </a:pPr>
            <a:r>
              <a:t>✓ 다중 지점 대응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425196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맑은 고딕"/>
              </a:defRPr>
            </a:pPr>
            <a:r>
              <a:t>여러 CCTV를 빠르게 순회 모니터링 가능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70916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  <a:latin typeface="맑은 고딕"/>
              </a:defRPr>
            </a:pPr>
            <a:r>
              <a:t>✓ 시연 신뢰성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498348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맑은 고딕"/>
              </a:defRPr>
            </a:pPr>
            <a:r>
              <a:t>발표·시연 시 즉각적인 소스 전환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544068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  <a:latin typeface="맑은 고딕"/>
              </a:defRPr>
            </a:pPr>
            <a:r>
              <a:t>✓ 확장성 기반 마련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571500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맑은 고딕"/>
              </a:defRPr>
            </a:pPr>
            <a:r>
              <a:t>향후 다중 화면 동시 모니터링 토대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74320"/>
            <a:ext cx="502920" cy="5029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320040"/>
            <a:ext cx="640080" cy="4572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65760"/>
            <a:ext cx="64008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365760"/>
            <a:ext cx="9144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2400" b="1">
                <a:solidFill>
                  <a:srgbClr val="1A1A1A"/>
                </a:solidFill>
                <a:latin typeface="맑은 고딕"/>
              </a:defRPr>
            </a:pPr>
            <a:r>
              <a:t>프로토타입 시연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14400"/>
            <a:ext cx="114300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7589520" cy="530352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758952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800" b="1">
                <a:solidFill>
                  <a:srgbClr val="64748B"/>
                </a:solidFill>
                <a:latin typeface="맑은 고딕"/>
              </a:defRPr>
            </a:pPr>
            <a:r>
              <a:t>📷 실행 화면 스크린샷 삽입 위치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23360"/>
            <a:ext cx="75895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(모니터링 페이지 — 실시간 탐지 결과)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188720"/>
            <a:ext cx="3474720" cy="5303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37160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600" b="1">
                <a:solidFill>
                  <a:srgbClr val="2E7D32"/>
                </a:solidFill>
                <a:latin typeface="맑은 고딕"/>
              </a:defRPr>
            </a:pPr>
            <a:r>
              <a:t>🎥 주요 화면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920240"/>
            <a:ext cx="32004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맑은 고딕"/>
              </a:defRPr>
            </a:pPr>
            <a:r>
              <a:t>● 실시간 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2240280"/>
            <a:ext cx="3108960" cy="594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CCTV + 탐지 박스 + ROI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971800"/>
            <a:ext cx="32004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맑은 고딕"/>
              </a:defRPr>
            </a:pPr>
            <a:r>
              <a:t>● 위험 감지 경고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3291840"/>
            <a:ext cx="3108960" cy="594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빨간 테두리 + 경고음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023360"/>
            <a:ext cx="32004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맑은 고딕"/>
              </a:defRPr>
            </a:pPr>
            <a:r>
              <a:t>● ROI 설정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4343400"/>
            <a:ext cx="3108960" cy="594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마우스로 다각형 그리기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5074919"/>
            <a:ext cx="32004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맑은 고딕"/>
              </a:defRPr>
            </a:pPr>
            <a:r>
              <a:t>● 이벤트 다시보기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5394959"/>
            <a:ext cx="3108960" cy="594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캘린더 + 영상 재생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74320"/>
            <a:ext cx="502920" cy="5029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320040"/>
            <a:ext cx="640080" cy="4572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65760"/>
            <a:ext cx="64008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365760"/>
            <a:ext cx="9144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2400" b="1">
                <a:solidFill>
                  <a:srgbClr val="1A1A1A"/>
                </a:solidFill>
                <a:latin typeface="맑은 고딕"/>
              </a:defRPr>
            </a:pPr>
            <a:r>
              <a:t>현재 성능 지표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14400"/>
            <a:ext cx="114300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2743200" cy="1645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109728" cy="16459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25880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맑은 고딕"/>
              </a:defRPr>
            </a:pPr>
            <a:r>
              <a:t>⚡  실시간 FPS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691640"/>
            <a:ext cx="1828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맑은 고딕"/>
              </a:defRPr>
            </a:pPr>
            <a:r>
              <a:t>15 ~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1965960"/>
            <a:ext cx="7315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fps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377440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로컬 접속 기준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1188720"/>
            <a:ext cx="2743200" cy="1645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83280" y="1188720"/>
            <a:ext cx="109728" cy="164592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1325880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맑은 고딕"/>
              </a:defRPr>
            </a:pPr>
            <a:r>
              <a:t>🎯  탐지 클래스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1691640"/>
            <a:ext cx="1828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맑은 고딕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1965960"/>
            <a:ext cx="7315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종류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377440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person · car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1188720"/>
            <a:ext cx="2743200" cy="1645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09360" y="1188720"/>
            <a:ext cx="109728" cy="164592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1325880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맑은 고딕"/>
              </a:defRPr>
            </a:pPr>
            <a:r>
              <a:t>⏱️  이벤트 녹화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1691640"/>
            <a:ext cx="1828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맑은 고딕"/>
              </a:defRPr>
            </a:pPr>
            <a:r>
              <a:t>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1965960"/>
            <a:ext cx="7315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377440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전 5초 + 후 10초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35440" y="1188720"/>
            <a:ext cx="2743200" cy="1645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235440" y="1188720"/>
            <a:ext cx="109728" cy="1645920"/>
          </a:xfrm>
          <a:prstGeom prst="round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60" y="1325880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맑은 고딕"/>
              </a:defRPr>
            </a:pPr>
            <a:r>
              <a:t>💾  클립 파일 크기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1691640"/>
            <a:ext cx="1828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맑은 고딕"/>
              </a:defRPr>
            </a:pPr>
            <a:r>
              <a:t>2.3 ~ 2.5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1965960"/>
            <a:ext cx="7315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MB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0" y="2377440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15초 기준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3017520"/>
            <a:ext cx="5669280" cy="3474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315468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600" b="1">
                <a:solidFill>
                  <a:srgbClr val="2E7D32"/>
                </a:solidFill>
                <a:latin typeface="맑은 고딕"/>
              </a:defRPr>
            </a:pPr>
            <a:r>
              <a:t>📊 처리 성능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3657600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맑은 고딕"/>
              </a:defRPr>
            </a:pPr>
            <a:r>
              <a:t>● 프레임 처리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08960" y="3657600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OpenCV + YOLOv8n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4160520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맑은 고딕"/>
              </a:defRPr>
            </a:pPr>
            <a:r>
              <a:t>● 추론 최적화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08960" y="4160520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FRAME_SKIP=2 (2프레임당 1회)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4663440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맑은 고딕"/>
              </a:defRPr>
            </a:pPr>
            <a:r>
              <a:t>● RTSP 처리 방식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08960" y="4663440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백그라운드 스레드 + 버퍼 최소화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5166360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맑은 고딕"/>
              </a:defRPr>
            </a:pPr>
            <a:r>
              <a:t>● 영상 클립 코덱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08960" y="5166360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H.264 (브라우저 호환)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669280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맑은 고딕"/>
              </a:defRPr>
            </a:pPr>
            <a:r>
              <a:t>● 원격 접속 대응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08960" y="5669280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자동 감지 → 해상도 640px 축소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0" y="3017520"/>
            <a:ext cx="5303520" cy="3474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75120" y="315468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600" b="1">
                <a:solidFill>
                  <a:srgbClr val="2E7D32"/>
                </a:solidFill>
                <a:latin typeface="맑은 고딕"/>
              </a:defRPr>
            </a:pPr>
            <a:r>
              <a:t>🎯 운용 지표 (누적)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0" y="3657600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맑은 고딕"/>
              </a:defRPr>
            </a:pPr>
            <a:r>
              <a:t>● 등록된 ROI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52560" y="3657600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3 개 (영상 소스별)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66560" y="4160520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맑은 고딕"/>
              </a:defRPr>
            </a:pPr>
            <a:r>
              <a:t>● 누적 이벤트 감지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52560" y="4160520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20 건 이상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66560" y="4663440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맑은 고딕"/>
              </a:defRPr>
            </a:pPr>
            <a:r>
              <a:t>● 이벤트 저장 형식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52560" y="4663440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JPG + MP4 + CSV 로그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66560" y="5166360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맑은 고딕"/>
              </a:defRPr>
            </a:pPr>
            <a:r>
              <a:t>● 외부 공유 횟수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52560" y="5166360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Cloudflare 터널 안정화 완료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66560" y="5669280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맑은 고딕"/>
              </a:defRPr>
            </a:pPr>
            <a:r>
              <a:t>● 연속 운용 테스트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52560" y="5669280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30 분 무장애 동작 확인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74320"/>
            <a:ext cx="502920" cy="5029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320040"/>
            <a:ext cx="640080" cy="4572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65760"/>
            <a:ext cx="64008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365760"/>
            <a:ext cx="9144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2400" b="1">
                <a:solidFill>
                  <a:srgbClr val="1A1A1A"/>
                </a:solidFill>
                <a:latin typeface="맑은 고딕"/>
              </a:defRPr>
            </a:pPr>
            <a:r>
              <a:t>리스크 관리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14400"/>
            <a:ext cx="114300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457200"/>
          </a:xfrm>
          <a:prstGeom prst="roundRect">
            <a:avLst/>
          </a:prstGeom>
          <a:solidFill>
            <a:srgbClr val="2E7D32"/>
          </a:solidFill>
          <a:ln w="952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2743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리스크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280160"/>
            <a:ext cx="10972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영향도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280160"/>
            <a:ext cx="10972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발생 가능성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1280160"/>
            <a:ext cx="58521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대응 방안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737360"/>
            <a:ext cx="11247120" cy="59436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94360" y="1938528"/>
            <a:ext cx="182880" cy="18288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1892808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맑은 고딕"/>
              </a:defRPr>
            </a:pPr>
            <a:r>
              <a:t>RTSP 네트워크 장애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1892808"/>
            <a:ext cx="10972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1">
                <a:solidFill>
                  <a:srgbClr val="DC2626"/>
                </a:solidFill>
                <a:latin typeface="맑은 고딕"/>
              </a:defRPr>
            </a:pPr>
            <a:r>
              <a:t>높음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892808"/>
            <a:ext cx="10972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중간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1892808"/>
            <a:ext cx="58521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맑은 고딕"/>
              </a:defRPr>
            </a:pPr>
            <a:r>
              <a:t>재연결 로직 + 최근 프레임 캐시 유지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395728"/>
            <a:ext cx="11247120" cy="594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94360" y="2596896"/>
            <a:ext cx="182880" cy="1828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2551176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맑은 고딕"/>
              </a:defRPr>
            </a:pPr>
            <a:r>
              <a:t>YOLOv8 탐지 정확도 부족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2551176"/>
            <a:ext cx="10972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맑은 고딕"/>
              </a:defRPr>
            </a:pPr>
            <a:r>
              <a:t>중간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2551176"/>
            <a:ext cx="10972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중간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2551176"/>
            <a:ext cx="58521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맑은 고딕"/>
              </a:defRPr>
            </a:pPr>
            <a:r>
              <a:t>오탐·미탐 분석 후 신뢰도 임계값 튜닝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054096"/>
            <a:ext cx="11247120" cy="59436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94360" y="3255264"/>
            <a:ext cx="182880" cy="18288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209544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맑은 고딕"/>
              </a:defRPr>
            </a:pPr>
            <a:r>
              <a:t>장시간 운용 메모리 누수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3209544"/>
            <a:ext cx="10972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1">
                <a:solidFill>
                  <a:srgbClr val="DC2626"/>
                </a:solidFill>
                <a:latin typeface="맑은 고딕"/>
              </a:defRPr>
            </a:pPr>
            <a:r>
              <a:t>높음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3209544"/>
            <a:ext cx="10972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낮음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0" y="3209544"/>
            <a:ext cx="58521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맑은 고딕"/>
              </a:defRPr>
            </a:pPr>
            <a:r>
              <a:t>post_frames 명시적 해제 + 장기 테스트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3712464"/>
            <a:ext cx="11247120" cy="594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94360" y="3913632"/>
            <a:ext cx="182880" cy="1828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3867912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맑은 고딕"/>
              </a:defRPr>
            </a:pPr>
            <a:r>
              <a:t>외부 공유 대역폭 한계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3867912"/>
            <a:ext cx="10972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맑은 고딕"/>
              </a:defRPr>
            </a:pPr>
            <a:r>
              <a:t>낮음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3867912"/>
            <a:ext cx="10972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중간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60720" y="3867912"/>
            <a:ext cx="58521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맑은 고딕"/>
              </a:defRPr>
            </a:pPr>
            <a:r>
              <a:t>원격 접속 자동 감지 해상도 축소 적용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4370832"/>
            <a:ext cx="11247120" cy="59436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94360" y="4572000"/>
            <a:ext cx="182880" cy="18288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4526280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맑은 고딕"/>
              </a:defRPr>
            </a:pPr>
            <a:r>
              <a:t>일시적 CCTV 화면 깜빡임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0" y="4526280"/>
            <a:ext cx="10972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1">
                <a:solidFill>
                  <a:srgbClr val="4CAF50"/>
                </a:solidFill>
                <a:latin typeface="맑은 고딕"/>
              </a:defRPr>
            </a:pPr>
            <a:r>
              <a:t>낮음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4526280"/>
            <a:ext cx="10972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낮음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60720" y="4526280"/>
            <a:ext cx="58521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맑은 고딕"/>
              </a:defRPr>
            </a:pPr>
            <a:r>
              <a:t>직전 프레임 캐싱으로 빈 화면 방지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5029199"/>
            <a:ext cx="11247120" cy="594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94360" y="5230367"/>
            <a:ext cx="182880" cy="18288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8680" y="5184647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맑은 고딕"/>
              </a:defRPr>
            </a:pPr>
            <a:r>
              <a:t>발표일 시스템 장애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74720" y="5184647"/>
            <a:ext cx="10972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1">
                <a:solidFill>
                  <a:srgbClr val="DC2626"/>
                </a:solidFill>
                <a:latin typeface="맑은 고딕"/>
              </a:defRPr>
            </a:pPr>
            <a:r>
              <a:t>높음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5184647"/>
            <a:ext cx="10972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낮음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60720" y="5184647"/>
            <a:ext cx="58521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맑은 고딕"/>
              </a:defRPr>
            </a:pPr>
            <a:r>
              <a:t>로컬 + 녹화 영상 백업 + 시연 리허설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74320"/>
            <a:ext cx="502920" cy="5029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320040"/>
            <a:ext cx="640080" cy="4572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65760"/>
            <a:ext cx="64008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365760"/>
            <a:ext cx="9144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2400" b="1">
                <a:solidFill>
                  <a:srgbClr val="1A1A1A"/>
                </a:solidFill>
                <a:latin typeface="맑은 고딕"/>
              </a:defRPr>
            </a:pPr>
            <a:r>
              <a:t>향후 로드맵 — 최종 발표까지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14400"/>
            <a:ext cx="114300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834639" y="2103120"/>
            <a:ext cx="1828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20640" y="2103120"/>
            <a:ext cx="1828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06640" y="2103120"/>
            <a:ext cx="1828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692640" y="2103120"/>
            <a:ext cx="1828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1554480"/>
            <a:ext cx="2103120" cy="5486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627632"/>
            <a:ext cx="210312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4/24~5/22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240280"/>
            <a:ext cx="2103120" cy="1920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377440"/>
            <a:ext cx="19202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300" b="1">
                <a:solidFill>
                  <a:srgbClr val="1A1A1A"/>
                </a:solidFill>
                <a:latin typeface="맑은 고딕"/>
              </a:defRPr>
            </a:pPr>
            <a:r>
              <a:t>통합 테스트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788920"/>
            <a:ext cx="1920240" cy="1280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오탐·미탐 분석</a:t>
            </a:r>
            <a:br/>
            <a:r>
              <a:t>성능 기준선 측정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17520" y="1554480"/>
            <a:ext cx="2103120" cy="548640"/>
          </a:xfrm>
          <a:prstGeom prst="round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17520" y="1627632"/>
            <a:ext cx="210312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5월 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17520" y="2240280"/>
            <a:ext cx="2103120" cy="1920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08960" y="2377440"/>
            <a:ext cx="19202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300" b="1">
                <a:solidFill>
                  <a:srgbClr val="1A1A1A"/>
                </a:solidFill>
                <a:latin typeface="맑은 고딕"/>
              </a:defRPr>
            </a:pPr>
            <a:r>
              <a:t>RTSP 프리셋 구현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2788920"/>
            <a:ext cx="1920240" cy="1280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다중 CCTV</a:t>
            </a:r>
            <a:br/>
            <a:r>
              <a:t>토글 UI 개발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03520" y="1554480"/>
            <a:ext cx="2103120" cy="5486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0" y="1627632"/>
            <a:ext cx="210312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5월 중순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03520" y="2240280"/>
            <a:ext cx="2103120" cy="1920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94960" y="2377440"/>
            <a:ext cx="19202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300" b="1">
                <a:solidFill>
                  <a:srgbClr val="1A1A1A"/>
                </a:solidFill>
                <a:latin typeface="맑은 고딕"/>
              </a:defRPr>
            </a:pPr>
            <a:r>
              <a:t>시스템 안정화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60" y="2788920"/>
            <a:ext cx="1920240" cy="1280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장시간 운용</a:t>
            </a:r>
            <a:br/>
            <a:r>
              <a:t>메모리 최적화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89520" y="1554480"/>
            <a:ext cx="2103120" cy="54864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0" y="1627632"/>
            <a:ext cx="210312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5/18~5/31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89520" y="2240280"/>
            <a:ext cx="2103120" cy="1920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0" y="2377440"/>
            <a:ext cx="19202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300" b="1">
                <a:solidFill>
                  <a:srgbClr val="1A1A1A"/>
                </a:solidFill>
                <a:latin typeface="맑은 고딕"/>
              </a:defRPr>
            </a:pPr>
            <a:r>
              <a:t>시연 영상 제작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2788920"/>
            <a:ext cx="1920240" cy="1280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프로토타입 데모</a:t>
            </a:r>
            <a:br/>
            <a:r>
              <a:t>영상 녹화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75520" y="1554480"/>
            <a:ext cx="2103120" cy="54864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75520" y="1627632"/>
            <a:ext cx="210312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5/25~6/11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875520" y="2240280"/>
            <a:ext cx="2103120" cy="1920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66960" y="2377440"/>
            <a:ext cx="19202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300" b="1">
                <a:solidFill>
                  <a:srgbClr val="1A1A1A"/>
                </a:solidFill>
                <a:latin typeface="맑은 고딕"/>
              </a:defRPr>
            </a:pPr>
            <a:r>
              <a:t>최종 자료 완성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66960" y="2788920"/>
            <a:ext cx="1920240" cy="1280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최종 보고서 +</a:t>
            </a:r>
            <a:br/>
            <a:r>
              <a:t>발표 자료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4480560"/>
            <a:ext cx="11247120" cy="2011680"/>
          </a:xfrm>
          <a:prstGeom prst="roundRect">
            <a:avLst/>
          </a:prstGeom>
          <a:solidFill>
            <a:srgbClr val="E8F5E9"/>
          </a:solidFill>
          <a:ln w="9525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46177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600" b="1">
                <a:solidFill>
                  <a:srgbClr val="2E7D32"/>
                </a:solidFill>
                <a:latin typeface="맑은 고딕"/>
              </a:defRPr>
            </a:pPr>
            <a:r>
              <a:t>🎯 최종 발표 목표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502920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맑은 고딕"/>
              </a:defRPr>
            </a:pPr>
            <a:r>
              <a:t>✓ 실환경 기반 정량 성능 지표 확보 (오탐·미탐·FPS)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5376672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맑은 고딕"/>
              </a:defRPr>
            </a:pPr>
            <a:r>
              <a:t>✓ 다중 CCTV 프리셋 토글 기능 완성 및 시연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5724144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맑은 고딕"/>
              </a:defRPr>
            </a:pPr>
            <a:r>
              <a:t>✓ 실제 골목·주차장 시연 영상 및 데모 시나리오 완성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6071616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맑은 고딕"/>
              </a:defRPr>
            </a:pPr>
            <a:r>
              <a:t>✓ 시스템 안정성 검증 (장시간 운용 테스트 포함)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64592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566160"/>
            <a:ext cx="1033272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맑은 고딕"/>
              </a:defRPr>
            </a:pPr>
            <a: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480560"/>
            <a:ext cx="103327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2000" b="0">
                <a:solidFill>
                  <a:srgbClr val="C8E6C8"/>
                </a:solidFill>
                <a:latin typeface="맑은 고딕"/>
              </a:defRPr>
            </a:pPr>
            <a:r>
              <a:t>SAFEVIEW — AI 기반 사각지대 위험 감지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212080"/>
            <a:ext cx="103327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Q &amp;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3327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200" b="0">
                <a:solidFill>
                  <a:srgbClr val="B4DCB4"/>
                </a:solidFill>
                <a:latin typeface="맑은 고딕"/>
              </a:defRPr>
            </a:pPr>
            <a:r>
              <a:t>GitHub: github.com/Mingoon77/SAFE-VIEW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